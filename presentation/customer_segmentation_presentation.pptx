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Annualised CLV Proxy (£)</c:v>
                </c:pt>
              </c:strCache>
            </c:strRef>
          </c:tx>
          <c:spPr>
            <a:solidFill>
              <a:srgbClr val="1B4332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1B433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20BB-410B-A332-0630910779E4}"/>
              </c:ext>
            </c:extLst>
          </c:dPt>
          <c:dPt>
            <c:idx val="1"/>
            <c:invertIfNegative val="0"/>
            <c:bubble3D val="0"/>
            <c:spPr>
              <a:solidFill>
                <a:srgbClr val="2D6A4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0BB-410B-A332-0630910779E4}"/>
              </c:ext>
            </c:extLst>
          </c:dPt>
          <c:dPt>
            <c:idx val="2"/>
            <c:invertIfNegative val="0"/>
            <c:bubble3D val="0"/>
            <c:spPr>
              <a:solidFill>
                <a:srgbClr val="C997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20BB-410B-A332-0630910779E4}"/>
              </c:ext>
            </c:extLst>
          </c:dPt>
          <c:dPt>
            <c:idx val="3"/>
            <c:invertIfNegative val="0"/>
            <c:bubble3D val="0"/>
            <c:spPr>
              <a:solidFill>
                <a:srgbClr val="C039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20BB-410B-A332-0630910779E4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A1A1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Champions</c:v>
                </c:pt>
                <c:pt idx="1">
                  <c:v>Loyal Customers</c:v>
                </c:pt>
                <c:pt idx="2">
                  <c:v>Potential Loyalists</c:v>
                </c:pt>
                <c:pt idx="3">
                  <c:v>At Risk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139070</c:v>
                </c:pt>
                <c:pt idx="1">
                  <c:v>25186</c:v>
                </c:pt>
                <c:pt idx="2">
                  <c:v>5175</c:v>
                </c:pt>
                <c:pt idx="3">
                  <c:v>4851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20BB-410B-A332-0630910779E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4A4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4D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4A4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r>
              <a:rPr lang="en-IN" sz="1100" b="0" i="0" u="none" strike="noStrike">
                <a:solidFill>
                  <a:srgbClr val="1A1A1A"/>
                </a:solidFill>
                <a:latin typeface="Arial"/>
              </a:rPr>
              <a:t>Elbow Method — Inertia by K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Inertia</c:v>
                </c:pt>
              </c:strCache>
            </c:strRef>
          </c:tx>
          <c:spPr>
            <a:ln w="31750" cap="flat">
              <a:solidFill>
                <a:srgbClr val="1B4332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B4332"/>
              </a:solidFill>
              <a:ln w="9525" cap="flat">
                <a:solidFill>
                  <a:srgbClr val="1B4332"/>
                </a:solidFill>
                <a:prstDash val="solid"/>
                <a:round/>
              </a:ln>
              <a:effectLst/>
            </c:spPr>
          </c:marker>
          <c:cat>
            <c:strRef>
              <c:f>Sheet1!$A$2:$A$10</c:f>
              <c:strCache>
                <c:ptCount val="9"/>
                <c:pt idx="0">
                  <c:v>K=2</c:v>
                </c:pt>
                <c:pt idx="1">
                  <c:v>K=3</c:v>
                </c:pt>
                <c:pt idx="2">
                  <c:v>K=4</c:v>
                </c:pt>
                <c:pt idx="3">
                  <c:v>K=5</c:v>
                </c:pt>
                <c:pt idx="4">
                  <c:v>K=6</c:v>
                </c:pt>
                <c:pt idx="5">
                  <c:v>K=7</c:v>
                </c:pt>
                <c:pt idx="6">
                  <c:v>K=8</c:v>
                </c:pt>
                <c:pt idx="7">
                  <c:v>K=9</c:v>
                </c:pt>
                <c:pt idx="8">
                  <c:v>K=10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3200</c:v>
                </c:pt>
                <c:pt idx="1">
                  <c:v>1600</c:v>
                </c:pt>
                <c:pt idx="2">
                  <c:v>800</c:v>
                </c:pt>
                <c:pt idx="3">
                  <c:v>680</c:v>
                </c:pt>
                <c:pt idx="4">
                  <c:v>590</c:v>
                </c:pt>
                <c:pt idx="5">
                  <c:v>520</c:v>
                </c:pt>
                <c:pt idx="6">
                  <c:v>470</c:v>
                </c:pt>
                <c:pt idx="7">
                  <c:v>430</c:v>
                </c:pt>
                <c:pt idx="8">
                  <c:v>400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03C-474A-B9FD-9507827FD6A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4A4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4D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4A4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r>
              <a:rPr lang="en-IN" sz="1100" b="0" i="0" u="none" strike="noStrike">
                <a:solidFill>
                  <a:srgbClr val="1A1A1A"/>
                </a:solidFill>
                <a:latin typeface="Arial"/>
              </a:rPr>
              <a:t>Silhouette Score by K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Silhouette</c:v>
                </c:pt>
              </c:strCache>
            </c:strRef>
          </c:tx>
          <c:spPr>
            <a:ln w="31750" cap="flat">
              <a:solidFill>
                <a:srgbClr val="C9974A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9974A"/>
              </a:solidFill>
              <a:ln w="9525" cap="flat">
                <a:solidFill>
                  <a:srgbClr val="C9974A"/>
                </a:solidFill>
                <a:prstDash val="solid"/>
                <a:round/>
              </a:ln>
              <a:effectLst/>
            </c:spPr>
          </c:marker>
          <c:cat>
            <c:strRef>
              <c:f>Sheet1!$A$2:$A$10</c:f>
              <c:strCache>
                <c:ptCount val="9"/>
                <c:pt idx="0">
                  <c:v>K=2</c:v>
                </c:pt>
                <c:pt idx="1">
                  <c:v>K=3</c:v>
                </c:pt>
                <c:pt idx="2">
                  <c:v>K=4</c:v>
                </c:pt>
                <c:pt idx="3">
                  <c:v>K=5</c:v>
                </c:pt>
                <c:pt idx="4">
                  <c:v>K=6</c:v>
                </c:pt>
                <c:pt idx="5">
                  <c:v>K=7</c:v>
                </c:pt>
                <c:pt idx="6">
                  <c:v>K=8</c:v>
                </c:pt>
                <c:pt idx="7">
                  <c:v>K=9</c:v>
                </c:pt>
                <c:pt idx="8">
                  <c:v>K=10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0.63</c:v>
                </c:pt>
                <c:pt idx="1">
                  <c:v>0.6</c:v>
                </c:pt>
                <c:pt idx="2">
                  <c:v>0.56999999999999995</c:v>
                </c:pt>
                <c:pt idx="3">
                  <c:v>0.54</c:v>
                </c:pt>
                <c:pt idx="4">
                  <c:v>0.51</c:v>
                </c:pt>
                <c:pt idx="5">
                  <c:v>0.49</c:v>
                </c:pt>
                <c:pt idx="6">
                  <c:v>0.47</c:v>
                </c:pt>
                <c:pt idx="7">
                  <c:v>0.45</c:v>
                </c:pt>
                <c:pt idx="8">
                  <c:v>0.43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4FA-4FEA-BFB3-5CB3375C73B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4A4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4D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4A4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22817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097280"/>
            <a:ext cx="4114800" cy="411480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2560320"/>
            <a:ext cx="2560320" cy="2560320"/>
          </a:xfrm>
          <a:prstGeom prst="ellipse">
            <a:avLst/>
          </a:prstGeom>
          <a:solidFill>
            <a:srgbClr val="163829"/>
          </a:solidFill>
          <a:ln w="12700">
            <a:solidFill>
              <a:srgbClr val="16382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90576" y="352044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C99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X E C U T I V E   P R E S E N T A T I O 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43256" y="490220"/>
            <a:ext cx="65836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48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</a:t>
            </a:r>
            <a:endParaRPr lang="en-US" sz="48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CLV ANALYSIS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82880" y="3150108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E-Commerce | 4,338 Customers | Dec 2010 – Dec 2011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92608" y="3687064"/>
            <a:ext cx="1965960" cy="777240"/>
          </a:xfrm>
          <a:prstGeom prst="rect">
            <a:avLst/>
          </a:prstGeom>
          <a:solidFill>
            <a:srgbClr val="163829"/>
          </a:solidFill>
          <a:ln w="12700">
            <a:solidFill>
              <a:srgbClr val="16382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9748" y="3826764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9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4,338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69748" y="4126484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00300" y="3687064"/>
            <a:ext cx="1965960" cy="777240"/>
          </a:xfrm>
          <a:prstGeom prst="rect">
            <a:avLst/>
          </a:prstGeom>
          <a:solidFill>
            <a:srgbClr val="163829"/>
          </a:solidFill>
          <a:ln w="12700">
            <a:solidFill>
              <a:srgbClr val="16382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08301" y="3813556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9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£8.89M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400300" y="4121785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07992" y="3687064"/>
            <a:ext cx="1965960" cy="777240"/>
          </a:xfrm>
          <a:prstGeom prst="rect">
            <a:avLst/>
          </a:prstGeom>
          <a:solidFill>
            <a:srgbClr val="163829"/>
          </a:solidFill>
          <a:ln w="12700">
            <a:solidFill>
              <a:srgbClr val="16382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36948" y="3813556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9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572000" y="4112514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583680" y="3673602"/>
            <a:ext cx="1965960" cy="777240"/>
          </a:xfrm>
          <a:prstGeom prst="rect">
            <a:avLst/>
          </a:prstGeom>
          <a:solidFill>
            <a:srgbClr val="163829"/>
          </a:solidFill>
          <a:ln w="12700">
            <a:solidFill>
              <a:srgbClr val="16382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5288" y="3822510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9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£139K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473952" y="4149852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 CLV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90576" y="4592892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Samarth Gupta  ·  Data Analyst | Business Analytics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OPERATIONAL PROBLEM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393192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822960"/>
            <a:ext cx="3931920" cy="640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9601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WASTED BUDGET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1298448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runs identical campaigns for every customer — same offers, same frequency, same messaging — regardless of how much they spend or how often they buy.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94360" y="2651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waste  ·  Margin erosion  ·  No prioritisation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54880" y="822960"/>
            <a:ext cx="393192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822960"/>
            <a:ext cx="3931920" cy="64008"/>
          </a:xfrm>
          <a:prstGeom prst="rect">
            <a:avLst/>
          </a:prstGeom>
          <a:solidFill>
            <a:srgbClr val="C9974A"/>
          </a:solidFill>
          <a:ln w="12700">
            <a:solidFill>
              <a:srgbClr val="C997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9601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C99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RETENTION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92040" y="1298448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High-value customers — the minority driving the majority of revenue — receive no special treatment. They are one bad experience away from churning, with no safety net in place.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892040" y="2651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risk  ·  No loyalty signals  ·  Revenue cliff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3931920"/>
            <a:ext cx="8229600" cy="84124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977640"/>
            <a:ext cx="7863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"Treating all customers identically is not neutral — it is a decision to over-invest in the wrong ones and under-invest in the ones that matter."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 AT A GLANCE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199339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822960"/>
            <a:ext cx="1993392" cy="54864"/>
          </a:xfrm>
          <a:prstGeom prst="rect">
            <a:avLst/>
          </a:prstGeom>
          <a:solidFill>
            <a:srgbClr val="C9974A"/>
          </a:solidFill>
          <a:ln w="12700">
            <a:solidFill>
              <a:srgbClr val="C997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60120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541,909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1993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Transactions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633472" y="822960"/>
            <a:ext cx="199339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633472" y="822960"/>
            <a:ext cx="1993392" cy="54864"/>
          </a:xfrm>
          <a:prstGeom prst="rect">
            <a:avLst/>
          </a:prstGeom>
          <a:solidFill>
            <a:srgbClr val="C9974A"/>
          </a:solidFill>
          <a:ln w="12700">
            <a:solidFill>
              <a:srgbClr val="C997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33472" y="960120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392,692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633472" y="1417320"/>
            <a:ext cx="1993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Transactions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809744" y="822960"/>
            <a:ext cx="199339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09744" y="822960"/>
            <a:ext cx="1993392" cy="54864"/>
          </a:xfrm>
          <a:prstGeom prst="rect">
            <a:avLst/>
          </a:prstGeom>
          <a:solidFill>
            <a:srgbClr val="C9974A"/>
          </a:solidFill>
          <a:ln w="12700">
            <a:solidFill>
              <a:srgbClr val="C997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9744" y="960120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4,338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09744" y="1417320"/>
            <a:ext cx="1993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Customers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986016" y="822960"/>
            <a:ext cx="199339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986016" y="822960"/>
            <a:ext cx="1993392" cy="54864"/>
          </a:xfrm>
          <a:prstGeom prst="rect">
            <a:avLst/>
          </a:prstGeom>
          <a:solidFill>
            <a:srgbClr val="C9974A"/>
          </a:solidFill>
          <a:ln w="12700">
            <a:solidFill>
              <a:srgbClr val="C997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86016" y="960120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Months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986016" y="1417320"/>
            <a:ext cx="1993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 2010 – Dec 2011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2212848"/>
            <a:ext cx="8522208" cy="512064"/>
          </a:xfrm>
          <a:prstGeom prst="rect">
            <a:avLst/>
          </a:prstGeom>
          <a:solidFill>
            <a:srgbClr val="D8EDDF"/>
          </a:solidFill>
          <a:ln w="12700">
            <a:solidFill>
              <a:srgbClr val="D8EDD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237232"/>
            <a:ext cx="32537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A T A   C L E A N I N G   S U M M A R 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38912" y="2410968"/>
            <a:ext cx="8540496" cy="313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135,080 missing CustomerIDs dropped (24.9%)  ·  9,288 cancelled invoices removed  ·  5,268 duplicate records removed  ·  total_price engineered as (quantity × unit price)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57200" y="2834640"/>
            <a:ext cx="2752344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94360" y="292608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→ CLEAN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94360" y="3218688"/>
            <a:ext cx="237744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541,909 transactions reduced to 392,692 after removing cancellations, missing IDs, negatives, and duplicates. 27.6% of raw data excluded — all for defensible, documented reasons.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342132" y="2834640"/>
            <a:ext cx="2752344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438144" y="295656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SCOPE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438144" y="3212592"/>
            <a:ext cx="237744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4,338 unique customers retained. Each customer aggregated into a single RFM profile — Recency, Frequency, and Monetary — the three dimensions that define behavioural value.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227064" y="2834640"/>
            <a:ext cx="2752344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309360" y="2944368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DATE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309360" y="3229356"/>
            <a:ext cx="237744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to 2011-12-10 (day after last transaction) as the reference point for recency calculation. Ensures consistency across all customer-level time comparisons.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REVEALS: REVENUE STRUCTURE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41148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91440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CONCENTRATION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40080" y="1207008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74.66%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640080" y="193852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total revenue driven by the top 20% of customers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2395728"/>
            <a:ext cx="3474720" cy="0"/>
          </a:xfrm>
          <a:prstGeom prst="line">
            <a:avLst/>
          </a:prstGeom>
          <a:noFill/>
          <a:ln w="12700">
            <a:solidFill>
              <a:srgbClr val="E8E4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487168"/>
            <a:ext cx="3749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remaining 80% of customers contribute just 25.34% of revenue. Revenue is not evenly distributed — it is structurally concentrated in a small minority.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754880" y="822960"/>
            <a:ext cx="39319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822960"/>
            <a:ext cx="393192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19472" y="932688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BUYERS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919472" y="118872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34.42%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4919472" y="178308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customers placed only a single order — the largest group in the dataset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754880" y="2578608"/>
            <a:ext cx="393192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2578608"/>
            <a:ext cx="3931920" cy="54864"/>
          </a:xfrm>
          <a:prstGeom prst="rect">
            <a:avLst/>
          </a:prstGeom>
          <a:solidFill>
            <a:srgbClr val="C9974A"/>
          </a:solidFill>
          <a:ln w="12700">
            <a:solidFill>
              <a:srgbClr val="C997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19472" y="2688336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C99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DORMANT CUSTOMERS (180d+)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919472" y="2944368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860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4919472" y="3493008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inactive 180+ days, contributing only 6.24% of total revenue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4462272"/>
            <a:ext cx="8229600" cy="4572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4480560"/>
            <a:ext cx="7863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"Revenue is highly concentrated — the top 13% of customers (Champions) alone carry 63% of the business."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SEGMENTS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7132320" y="256032"/>
            <a:ext cx="1554480" cy="457200"/>
          </a:xfrm>
          <a:prstGeom prst="rect">
            <a:avLst/>
          </a:prstGeom>
          <a:solidFill>
            <a:srgbClr val="D8EDDF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150608" y="301752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K=4  |  Silhouette 0.57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822960"/>
            <a:ext cx="2011680" cy="4041648"/>
          </a:xfrm>
          <a:prstGeom prst="rect">
            <a:avLst/>
          </a:prstGeom>
          <a:solidFill>
            <a:srgbClr val="1B4332"/>
          </a:solidFill>
          <a:ln w="12700">
            <a:solidFill>
              <a:srgbClr val="E8E4DC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822960"/>
            <a:ext cx="2011680" cy="64008"/>
          </a:xfrm>
          <a:prstGeom prst="rect">
            <a:avLst/>
          </a:prstGeom>
          <a:solidFill>
            <a:srgbClr val="C9974A"/>
          </a:solidFill>
          <a:ln w="12700">
            <a:solidFill>
              <a:srgbClr val="C997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932688"/>
            <a:ext cx="17922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C99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66928" y="1280160"/>
            <a:ext cx="17922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571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566928" y="1755648"/>
            <a:ext cx="17922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66928" y="2011680"/>
            <a:ext cx="1792224" cy="0"/>
          </a:xfrm>
          <a:prstGeom prst="line">
            <a:avLst/>
          </a:prstGeom>
          <a:noFill/>
          <a:ln w="12700">
            <a:solidFill>
              <a:srgbClr val="2D6A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2121408"/>
            <a:ext cx="17922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66928" y="2304288"/>
            <a:ext cx="17922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63.12%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66928" y="2624328"/>
            <a:ext cx="17922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Recency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66928" y="2807208"/>
            <a:ext cx="17922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days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66928" y="3127248"/>
            <a:ext cx="17922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Frequency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66928" y="3310128"/>
            <a:ext cx="17922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15.8 orders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66928" y="3630168"/>
            <a:ext cx="17922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Spend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66928" y="3813048"/>
            <a:ext cx="17922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£9,823 avg spend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30352" y="4370832"/>
            <a:ext cx="1865376" cy="402336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4389120"/>
            <a:ext cx="1792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13% of customers. 63% of revenue. The business.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633472" y="822960"/>
            <a:ext cx="2011680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633472" y="822960"/>
            <a:ext cx="2011680" cy="64008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0" y="932688"/>
            <a:ext cx="17922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 CUSTOMERS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743200" y="1280160"/>
            <a:ext cx="17922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1,452</a:t>
            </a:r>
            <a:endParaRPr lang="en-US" sz="3400" dirty="0"/>
          </a:p>
        </p:txBody>
      </p:sp>
      <p:sp>
        <p:nvSpPr>
          <p:cNvPr id="25" name="Text 23"/>
          <p:cNvSpPr/>
          <p:nvPr/>
        </p:nvSpPr>
        <p:spPr>
          <a:xfrm>
            <a:off x="2743200" y="1755648"/>
            <a:ext cx="17922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743200" y="2011680"/>
            <a:ext cx="1792224" cy="0"/>
          </a:xfrm>
          <a:prstGeom prst="line">
            <a:avLst/>
          </a:prstGeom>
          <a:noFill/>
          <a:ln w="12700">
            <a:solidFill>
              <a:srgbClr val="E8E4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0" y="2121408"/>
            <a:ext cx="17922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743200" y="2304288"/>
            <a:ext cx="17922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26.86%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743200" y="2624328"/>
            <a:ext cx="17922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Recency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743200" y="2807208"/>
            <a:ext cx="17922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 days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743200" y="3127248"/>
            <a:ext cx="17922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Frequency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743200" y="3310128"/>
            <a:ext cx="17922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 orders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2743200" y="3630168"/>
            <a:ext cx="17922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Spend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743200" y="3813048"/>
            <a:ext cx="17922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£1,644 avg spend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2706624" y="4370832"/>
            <a:ext cx="1865376" cy="402336"/>
          </a:xfrm>
          <a:prstGeom prst="rect">
            <a:avLst/>
          </a:prstGeom>
          <a:solidFill>
            <a:srgbClr val="D8EDDF"/>
          </a:solidFill>
          <a:ln w="12700">
            <a:solidFill>
              <a:srgbClr val="D8EDD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0" y="4389120"/>
            <a:ext cx="1792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Established habit. Gap to Champions is frequency, not trust.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809744" y="822960"/>
            <a:ext cx="2011680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809744" y="822960"/>
            <a:ext cx="2011680" cy="64008"/>
          </a:xfrm>
          <a:prstGeom prst="rect">
            <a:avLst/>
          </a:prstGeom>
          <a:solidFill>
            <a:schemeClr val="accent4"/>
          </a:solidFill>
          <a:ln w="12700">
            <a:solidFill>
              <a:srgbClr val="C9974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19472" y="932688"/>
            <a:ext cx="17922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LOYALISTS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919472" y="1280160"/>
            <a:ext cx="17922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1,377</a:t>
            </a:r>
            <a:endParaRPr lang="en-US" sz="3400" dirty="0"/>
          </a:p>
        </p:txBody>
      </p:sp>
      <p:sp>
        <p:nvSpPr>
          <p:cNvPr id="41" name="Text 39"/>
          <p:cNvSpPr/>
          <p:nvPr/>
        </p:nvSpPr>
        <p:spPr>
          <a:xfrm>
            <a:off x="4919472" y="1755648"/>
            <a:ext cx="17922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919472" y="2011680"/>
            <a:ext cx="1792224" cy="0"/>
          </a:xfrm>
          <a:prstGeom prst="line">
            <a:avLst/>
          </a:prstGeom>
          <a:noFill/>
          <a:ln w="12700">
            <a:solidFill>
              <a:srgbClr val="E8E4D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19472" y="2121408"/>
            <a:ext cx="17922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919472" y="2304288"/>
            <a:ext cx="17922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5.95%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4919472" y="2624328"/>
            <a:ext cx="17922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Recency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919472" y="2807208"/>
            <a:ext cx="17922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 days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4919472" y="3127248"/>
            <a:ext cx="17922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Frequency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919472" y="3310128"/>
            <a:ext cx="17922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1.51 orders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4919472" y="3630168"/>
            <a:ext cx="17922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Spend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919472" y="3813048"/>
            <a:ext cx="17922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£384 avg spend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4882896" y="4370832"/>
            <a:ext cx="1865376" cy="402336"/>
          </a:xfrm>
          <a:prstGeom prst="rect">
            <a:avLst/>
          </a:prstGeom>
          <a:solidFill>
            <a:srgbClr val="D8EDDF"/>
          </a:solidFill>
          <a:ln w="12700">
            <a:solidFill>
              <a:srgbClr val="D8EDD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919472" y="4389120"/>
            <a:ext cx="1792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but almost all one-time buyers. Still warm.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6986016" y="822960"/>
            <a:ext cx="2011680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6986016" y="822960"/>
            <a:ext cx="2011680" cy="640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095744" y="932688"/>
            <a:ext cx="17922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RISK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7095744" y="1280160"/>
            <a:ext cx="17922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938</a:t>
            </a:r>
            <a:endParaRPr lang="en-US" sz="3400" dirty="0"/>
          </a:p>
        </p:txBody>
      </p:sp>
      <p:sp>
        <p:nvSpPr>
          <p:cNvPr id="57" name="Text 55"/>
          <p:cNvSpPr/>
          <p:nvPr/>
        </p:nvSpPr>
        <p:spPr>
          <a:xfrm>
            <a:off x="7095744" y="1755648"/>
            <a:ext cx="17922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7095744" y="2011680"/>
            <a:ext cx="1792224" cy="0"/>
          </a:xfrm>
          <a:prstGeom prst="line">
            <a:avLst/>
          </a:prstGeom>
          <a:noFill/>
          <a:ln w="12700">
            <a:solidFill>
              <a:srgbClr val="E8E4D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095744" y="2121408"/>
            <a:ext cx="17922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7095744" y="2304288"/>
            <a:ext cx="17922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4.07%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7095744" y="2624328"/>
            <a:ext cx="17922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Recency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7095744" y="2807208"/>
            <a:ext cx="17922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259 days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7095744" y="3127248"/>
            <a:ext cx="17922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Frequency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7095744" y="3310128"/>
            <a:ext cx="17922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1.37 orders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7095744" y="3630168"/>
            <a:ext cx="17922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Spend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7095744" y="3813048"/>
            <a:ext cx="17922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£385 avg spend</a:t>
            </a:r>
            <a:endParaRPr lang="en-US" sz="1200" dirty="0"/>
          </a:p>
        </p:txBody>
      </p:sp>
      <p:sp>
        <p:nvSpPr>
          <p:cNvPr id="67" name="Shape 65"/>
          <p:cNvSpPr/>
          <p:nvPr/>
        </p:nvSpPr>
        <p:spPr>
          <a:xfrm>
            <a:off x="7059168" y="4370832"/>
            <a:ext cx="1865376" cy="402336"/>
          </a:xfrm>
          <a:prstGeom prst="rect">
            <a:avLst/>
          </a:prstGeom>
          <a:solidFill>
            <a:srgbClr val="D8EDDF"/>
          </a:solidFill>
          <a:ln w="12700">
            <a:solidFill>
              <a:srgbClr val="D8EDDF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095744" y="4389120"/>
            <a:ext cx="1792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for 8+ months. Low value but recoverable.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CLV GAP IS EXTREME</a:t>
            </a:r>
            <a:endParaRPr lang="en-US" sz="22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457200" y="777240"/>
          <a:ext cx="512064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hape 1"/>
          <p:cNvSpPr/>
          <p:nvPr/>
        </p:nvSpPr>
        <p:spPr>
          <a:xfrm>
            <a:off x="5852160" y="777240"/>
            <a:ext cx="2834640" cy="10058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5989320" y="868680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99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£139,070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5989320" y="1325880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Champions CLV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989320" y="150876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Annualised proxy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852160" y="1920240"/>
            <a:ext cx="28346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852160" y="1920240"/>
            <a:ext cx="2834640" cy="54864"/>
          </a:xfrm>
          <a:prstGeom prst="rect">
            <a:avLst/>
          </a:prstGeom>
          <a:solidFill>
            <a:srgbClr val="C9974A"/>
          </a:solidFill>
          <a:ln w="12700">
            <a:solidFill>
              <a:srgbClr val="C9974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89320" y="2011680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5.5×</a:t>
            </a:r>
            <a:endParaRPr lang="en-US" sz="3200" dirty="0"/>
          </a:p>
        </p:txBody>
      </p:sp>
      <p:sp>
        <p:nvSpPr>
          <p:cNvPr id="11" name="Text 8"/>
          <p:cNvSpPr/>
          <p:nvPr/>
        </p:nvSpPr>
        <p:spPr>
          <a:xfrm>
            <a:off x="5989320" y="2468880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Loyal Customers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989320" y="265176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CLV multiplier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852160" y="3063240"/>
            <a:ext cx="28346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852160" y="3063240"/>
            <a:ext cx="2834640" cy="54864"/>
          </a:xfrm>
          <a:prstGeom prst="rect">
            <a:avLst/>
          </a:prstGeom>
          <a:solidFill>
            <a:srgbClr val="C9974A"/>
          </a:solidFill>
          <a:ln w="12700">
            <a:solidFill>
              <a:srgbClr val="C9974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989320" y="3154680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28×</a:t>
            </a:r>
            <a:endParaRPr lang="en-US" sz="3200" dirty="0"/>
          </a:p>
        </p:txBody>
      </p:sp>
      <p:sp>
        <p:nvSpPr>
          <p:cNvPr id="16" name="Text 13"/>
          <p:cNvSpPr/>
          <p:nvPr/>
        </p:nvSpPr>
        <p:spPr>
          <a:xfrm>
            <a:off x="5989320" y="3611880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At Risk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5989320" y="379476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CLV multiplier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5852160" y="4224528"/>
            <a:ext cx="2834640" cy="566928"/>
          </a:xfrm>
          <a:prstGeom prst="rect">
            <a:avLst/>
          </a:prstGeom>
          <a:solidFill>
            <a:srgbClr val="D8EDDF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89320" y="4251960"/>
            <a:ext cx="2651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order frequency is the primary drag on Potential Loyalists — 1.51 orders vs 15.8 for Champions.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457200" y="4462272"/>
            <a:ext cx="5257800" cy="4572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94360" y="4480560"/>
            <a:ext cx="4983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"Every ₹ of marketing budget allocated without CLV context is a ₹ misdirected."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K=4 WAS SELECTED</a:t>
            </a:r>
            <a:endParaRPr lang="en-US" sz="22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457200" y="804672"/>
          <a:ext cx="411480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Chart 1"/>
          <p:cNvGraphicFramePr/>
          <p:nvPr/>
        </p:nvGraphicFramePr>
        <p:xfrm>
          <a:off x="4754880" y="804672"/>
          <a:ext cx="393192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5" name="Shape 1"/>
          <p:cNvSpPr/>
          <p:nvPr/>
        </p:nvSpPr>
        <p:spPr>
          <a:xfrm>
            <a:off x="457200" y="3291840"/>
            <a:ext cx="269748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2"/>
          <p:cNvSpPr/>
          <p:nvPr/>
        </p:nvSpPr>
        <p:spPr>
          <a:xfrm>
            <a:off x="457200" y="3291840"/>
            <a:ext cx="2697480" cy="54864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594360" y="3401568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ELBOW BEND AT K=4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594360" y="3694176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Inertia drops sharply from K=2 (3.2B) to K=4 (0.8B) then flattens. The clearest bend in the curve sits between K=4 and K=5.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3355848" y="3291840"/>
            <a:ext cx="269748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3355848" y="3291840"/>
            <a:ext cx="2697480" cy="54864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493008" y="3401568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 SCORE 0.57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3493008" y="3694176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K=2 mathematically peaks at 0.63 but collapses all nuance into 2 groups. K=4 holds a strong 0.57 — meaningful separation before the sharper drop.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6254496" y="3291840"/>
            <a:ext cx="269748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254496" y="3291840"/>
            <a:ext cx="2697480" cy="54864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391656" y="3401568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INTERPRETABILITY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6391656" y="3694176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K=4 maps cleanly onto actionable business segments — Champions, Loyal, Potential Loyalists, At Risk — each requiring a distinct strategy.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94360" y="4846320"/>
            <a:ext cx="7955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K=4 selected on convergence of statistical signal and business interpretability — not on either criterion alone.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" y="73152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B433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RECOMMENDATIONS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114300" y="438912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1" u="none" strike="noStrike" kern="1200" cap="none" spc="0" normalizeH="0" baseline="0" noProof="0" dirty="0">
                <a:ln>
                  <a:noFill/>
                </a:ln>
                <a:solidFill>
                  <a:srgbClr val="8A8A8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Every recommendation is traceable to a specific number.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65760" y="677418"/>
            <a:ext cx="4206240" cy="93802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26948" y="701802"/>
            <a:ext cx="34564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B433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Protect the Champion Base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726948" y="876681"/>
            <a:ext cx="34564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1" u="none" strike="noStrike" kern="1200" cap="none" spc="0" normalizeH="0" baseline="0" noProof="0" dirty="0">
                <a:ln>
                  <a:noFill/>
                </a:ln>
                <a:solidFill>
                  <a:srgbClr val="8A8A8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571 customers · 63.12% revenue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720090" y="1055370"/>
            <a:ext cx="379425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Build a VIP retention programme — early access, dedicated support, loyalty rewards tied to frequency. Any Champion crossing 45+ days without a purchase triggers immediate re-engagement.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754880" y="694944"/>
            <a:ext cx="4206240" cy="913257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97222" y="701802"/>
            <a:ext cx="566928" cy="906399"/>
          </a:xfrm>
          <a:prstGeom prst="rect">
            <a:avLst/>
          </a:prstGeom>
          <a:solidFill>
            <a:srgbClr val="C9974A"/>
          </a:solidFill>
          <a:ln w="12700">
            <a:solidFill>
              <a:srgbClr val="C997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042416"/>
            <a:ext cx="5669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240528" y="701294"/>
            <a:ext cx="34564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C9974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Convert Loyals to Champions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240528" y="884174"/>
            <a:ext cx="34564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1" u="none" strike="noStrike" kern="1200" cap="none" spc="0" normalizeH="0" baseline="0" noProof="0" dirty="0">
                <a:ln>
                  <a:noFill/>
                </a:ln>
                <a:solidFill>
                  <a:srgbClr val="8A8A8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1,452 customers · 4.2 → 15.8 order gap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264150" y="1048766"/>
            <a:ext cx="367919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Run frequency-focused campaigns — bundle offers, repeat-purchase incentives. Identify the top 20% of Loyal Customers as Champion candidates and give them early product access.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374904" y="1671066"/>
            <a:ext cx="4206240" cy="92430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60020" y="1671066"/>
            <a:ext cx="566928" cy="91821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53162" y="1915668"/>
            <a:ext cx="5669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20090" y="1702308"/>
            <a:ext cx="34564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B433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Activate Potential Loyalists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713232" y="1882521"/>
            <a:ext cx="34564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1" u="none" strike="noStrike" kern="1200" cap="none" spc="0" normalizeH="0" baseline="0" noProof="0" dirty="0">
                <a:ln>
                  <a:noFill/>
                </a:ln>
                <a:solidFill>
                  <a:srgbClr val="8A8A8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1,377 customers · 58-day recency window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720090" y="2052828"/>
            <a:ext cx="383133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Deploy a second-purchase campaign targeting these users within 30 days of first order. A small incentive at the right moment converts a browser into a repeat buyer.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754880" y="1663065"/>
            <a:ext cx="4206240" cy="933831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97222" y="1665351"/>
            <a:ext cx="566928" cy="930021"/>
          </a:xfrm>
          <a:prstGeom prst="rect">
            <a:avLst/>
          </a:prstGeom>
          <a:solidFill>
            <a:srgbClr val="C9974A"/>
          </a:solidFill>
          <a:ln w="12700">
            <a:solidFill>
              <a:srgbClr val="C997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97222" y="1890014"/>
            <a:ext cx="5669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5240528" y="1668209"/>
            <a:ext cx="34564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C9974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Re-engage At Risk Customers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5240528" y="1864233"/>
            <a:ext cx="34564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1" u="none" strike="noStrike" kern="1200" cap="none" spc="0" normalizeH="0" baseline="0" noProof="0" dirty="0">
                <a:ln>
                  <a:noFill/>
                </a:ln>
                <a:solidFill>
                  <a:srgbClr val="8A8A8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938 customers · 259 days inactive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5240528" y="2022602"/>
            <a:ext cx="367741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Win-back sequence with a time-limited offer. If response rate is below 5%, reallocate budget to Potential Loyalists with higher conversion probability.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160020" y="2644901"/>
            <a:ext cx="4411980" cy="968629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67640" y="2652142"/>
            <a:ext cx="566928" cy="947546"/>
          </a:xfrm>
          <a:prstGeom prst="rect">
            <a:avLst/>
          </a:prstGeom>
          <a:solidFill>
            <a:srgbClr val="C9974A"/>
          </a:solidFill>
          <a:ln w="12700">
            <a:solidFill>
              <a:srgbClr val="C997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67640" y="2911602"/>
            <a:ext cx="5669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740664" y="2649093"/>
            <a:ext cx="34564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C9974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Never Discount Champions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740664" y="2828544"/>
            <a:ext cx="34564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1" u="none" strike="noStrike" kern="1200" cap="none" spc="0" normalizeH="0" baseline="0" noProof="0" dirty="0">
                <a:ln>
                  <a:noFill/>
                </a:ln>
                <a:solidFill>
                  <a:srgbClr val="8A8A8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Avg spend £9,823 · already paying full price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734568" y="3011424"/>
            <a:ext cx="380695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Champions are high-frequency, high-spend buyers. Blanket discounts erode margin with zero incremental value. Reserve discounts exclusively for activation and re-engagement.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4754880" y="2644394"/>
            <a:ext cx="4206240" cy="95529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697222" y="2644902"/>
            <a:ext cx="566928" cy="945642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97222" y="2933700"/>
            <a:ext cx="5669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5240528" y="2646426"/>
            <a:ext cx="34564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B433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Prioritise Frequency Over Spend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5240528" y="2835402"/>
            <a:ext cx="34564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1" u="none" strike="noStrike" kern="1200" cap="none" spc="0" normalizeH="0" baseline="0" noProof="0" dirty="0">
                <a:ln>
                  <a:noFill/>
                </a:ln>
                <a:solidFill>
                  <a:srgbClr val="8A8A8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CLV = AOV × Frequency × 12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5240528" y="2993135"/>
            <a:ext cx="3720592" cy="5642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Frequency is the primary driver of segment value. Investment that increases order frequency, even at lower AOV, compounds into significantly higher lifetime value.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370713" y="3671316"/>
            <a:ext cx="420624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174498" y="3665220"/>
            <a:ext cx="566928" cy="1024128"/>
          </a:xfrm>
          <a:prstGeom prst="rect">
            <a:avLst/>
          </a:prstGeom>
          <a:solidFill>
            <a:srgbClr val="C9974A"/>
          </a:solidFill>
          <a:ln w="12700">
            <a:solidFill>
              <a:srgbClr val="C9974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53924" y="3950208"/>
            <a:ext cx="5669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734568" y="3700272"/>
            <a:ext cx="34564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C9974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Allocate Budget by CLV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734568" y="3883914"/>
            <a:ext cx="34564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1" u="none" strike="noStrike" kern="1200" cap="none" spc="0" normalizeH="0" baseline="0" noProof="0" dirty="0">
                <a:ln>
                  <a:noFill/>
                </a:ln>
                <a:solidFill>
                  <a:srgbClr val="8A8A8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£139K vs £25K vs £5K vs £4.8K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734568" y="4048506"/>
            <a:ext cx="377977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 uniform per-customer budget treats a £139K customer identically to a £4.8K one. Marketing spend should reflect the 28× CLV gap — not be applied uniformly.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4737100" y="3679698"/>
            <a:ext cx="420624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697222" y="3675888"/>
            <a:ext cx="566928" cy="102412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697222" y="3978020"/>
            <a:ext cx="5669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5264150" y="3708082"/>
            <a:ext cx="34564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B4332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Monitor Revenue Concentration Risk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5264150" y="3890010"/>
            <a:ext cx="34564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1" u="none" strike="noStrike" kern="1200" cap="none" spc="0" normalizeH="0" baseline="0" noProof="0" dirty="0">
                <a:ln>
                  <a:noFill/>
                </a:ln>
                <a:solidFill>
                  <a:srgbClr val="8A8A8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Top 20% = 74.66% of revenue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5304028" y="4092130"/>
            <a:ext cx="361391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If Champions churn, no other segment compensates. Track Champion recency weekly and set board-level alerts at cohort-level churn signals.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Shape 50"/>
          <p:cNvSpPr/>
          <p:nvPr/>
        </p:nvSpPr>
        <p:spPr>
          <a:xfrm>
            <a:off x="374904" y="4762118"/>
            <a:ext cx="8412480" cy="308229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57784" y="4790312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"Every recommendation in this project has a number behind it. That is the difference between analysis and opinion."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" name="Shape 3"/>
          <p:cNvSpPr/>
          <p:nvPr/>
        </p:nvSpPr>
        <p:spPr>
          <a:xfrm>
            <a:off x="160020" y="682752"/>
            <a:ext cx="566928" cy="925449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55" name="Text 4"/>
          <p:cNvSpPr/>
          <p:nvPr/>
        </p:nvSpPr>
        <p:spPr>
          <a:xfrm>
            <a:off x="146304" y="958977"/>
            <a:ext cx="5669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3200400"/>
            <a:ext cx="3200400" cy="320040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-914400"/>
            <a:ext cx="2743200" cy="2743200"/>
          </a:xfrm>
          <a:prstGeom prst="ellipse">
            <a:avLst/>
          </a:prstGeom>
          <a:solidFill>
            <a:srgbClr val="163829"/>
          </a:solidFill>
          <a:ln w="12700">
            <a:solidFill>
              <a:srgbClr val="16382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457200"/>
            <a:ext cx="7680960" cy="1371600"/>
          </a:xfrm>
          <a:prstGeom prst="rect">
            <a:avLst/>
          </a:prstGeom>
          <a:solidFill>
            <a:srgbClr val="163829"/>
          </a:solidFill>
          <a:ln w="12700">
            <a:solidFill>
              <a:srgbClr val="16382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50292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C99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segmentation doesn't tell you what to do. It tells you who your customers actually are — and what each group is worth. Strategy follows from that."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85800" y="2103120"/>
            <a:ext cx="2468880" cy="22860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2103120"/>
            <a:ext cx="2468880" cy="64008"/>
          </a:xfrm>
          <a:prstGeom prst="rect">
            <a:avLst/>
          </a:prstGeom>
          <a:solidFill>
            <a:srgbClr val="C9974A"/>
          </a:solidFill>
          <a:ln w="12700">
            <a:solidFill>
              <a:srgbClr val="C997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212848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C99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Is Concentrated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22960" y="2724912"/>
            <a:ext cx="219456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D4EE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20% drive 74.66% of revenue. Champions alone carry 63%. The imbalance is structural and measurable.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29000" y="2103120"/>
            <a:ext cx="2468880" cy="22860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29000" y="2103120"/>
            <a:ext cx="2468880" cy="64008"/>
          </a:xfrm>
          <a:prstGeom prst="rect">
            <a:avLst/>
          </a:prstGeom>
          <a:solidFill>
            <a:srgbClr val="C9974A"/>
          </a:solidFill>
          <a:ln w="12700">
            <a:solidFill>
              <a:srgbClr val="C997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66160" y="2212848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C99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Segments Are Distinct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566160" y="2724912"/>
            <a:ext cx="219456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D4EE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behaviorally different groups with a 28× CLV gap end-to-end. Same model, four different strategies.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72200" y="2103120"/>
            <a:ext cx="2468880" cy="22860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72200" y="2103120"/>
            <a:ext cx="2468880" cy="64008"/>
          </a:xfrm>
          <a:prstGeom prst="rect">
            <a:avLst/>
          </a:prstGeom>
          <a:solidFill>
            <a:srgbClr val="C9974A"/>
          </a:solidFill>
          <a:ln w="12700">
            <a:solidFill>
              <a:srgbClr val="C997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2212848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C99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Actions Are Clear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309360" y="2724912"/>
            <a:ext cx="219456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D4EE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recommendation is grounded in a specific number — CLV, recency, frequency. No guesswork.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47365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Samarth Gupta  ·  Customer Segmentation &amp; CLV Analysis  ·  UK E-Commerce  ·  Dec 2010 – Dec 2011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1247</Words>
  <Application>Microsoft Office PowerPoint</Application>
  <PresentationFormat>On-screen Show (16:9)</PresentationFormat>
  <Paragraphs>175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Segmentation &amp; CLV Analysis</dc:title>
  <dc:subject>PptxGenJS Presentation</dc:subject>
  <dc:creator>Samarth Gupta</dc:creator>
  <cp:lastModifiedBy>Samarth Gupta</cp:lastModifiedBy>
  <cp:revision>8</cp:revision>
  <dcterms:created xsi:type="dcterms:W3CDTF">2026-06-06T12:52:58Z</dcterms:created>
  <dcterms:modified xsi:type="dcterms:W3CDTF">2026-06-06T13:33:23Z</dcterms:modified>
</cp:coreProperties>
</file>